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iBCHzug+EJwCMTOHs9vDezIkCV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8B6BA3-5B5F-4E88-952C-5D27AC7E31CF}">
  <a:tblStyle styleId="{E58B6BA3-5B5F-4E88-952C-5D27AC7E31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我們的 Campaign Big Idea 是：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  <a:r>
              <a:rPr b="1" lang="en-US" sz="1700"/>
              <a:t>「30 天健康外食 Bingo」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我們刻意沒有要求使用者一開始就完成 25 格。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最簡單的規則只有一句：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/>
              <a:t>任選五個任務連成一線，就可以取得第一階段獎勵。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因為如果活動一開始就告訴使用者「你要完成 25 個任務」，門檻其實非常高。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所以我們希望先讓他覺得：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/>
              <a:t>我只差幾格就完成了，那我再做一個看看。</a:t>
            </a:r>
            <a:endParaRPr b="1" sz="2300"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Bingo 不是單純把遊戲放進平台。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我們把每個格子都對應到一個希望使用者完成的行為。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從最前面的</a:t>
            </a:r>
            <a:r>
              <a:rPr b="1" lang="en-US" sz="1100"/>
              <a:t>願意參加</a:t>
            </a:r>
            <a:r>
              <a:rPr lang="en-US" sz="1100"/>
              <a:t>，到實際</a:t>
            </a:r>
            <a:r>
              <a:rPr b="1" lang="en-US" sz="1100"/>
              <a:t>探索平台功能</a:t>
            </a:r>
            <a:r>
              <a:rPr lang="en-US" sz="1100"/>
              <a:t>，完成之後得到</a:t>
            </a:r>
            <a:r>
              <a:rPr b="1" lang="en-US" sz="1100"/>
              <a:t>即時回饋</a:t>
            </a:r>
            <a:r>
              <a:rPr lang="en-US" sz="1100"/>
              <a:t>，再利用分級獎勵讓他繼續挑戰。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所以背後其實是一條：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/>
              <a:t>參與 → 體驗 → 轉換 → 留存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的使用者路徑。</a:t>
            </a:r>
            <a:endParaRPr b="1" sz="1700"/>
          </a:p>
        </p:txBody>
      </p:sp>
      <p:sp>
        <p:nvSpPr>
          <p:cNvPr id="244" name="Google Shape;24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接下來是我們這個活動比較重要的一個設計。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傳統做法可能是在體驗結束後丟出：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「請幫我們填一份使用者滿意度問卷。」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但大家看到十幾題，大概已經準備關掉網頁。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所以我們規劃把問卷</a:t>
            </a:r>
            <a:r>
              <a:rPr b="1" lang="en-US" sz="1100"/>
              <a:t>拆散到 Bingo 任務裡面</a:t>
            </a:r>
            <a:r>
              <a:rPr lang="en-US" sz="1100"/>
              <a:t>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例如使用地圖之後，只問：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「你覺得附近店家的豐富度符合期待嗎？」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使用 AI 辨識後，只問：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「剛剛辨識準確嗎？」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使用者只需要點一下 Emoji 或選項，就可以完成回饋並點亮任務。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所以我們不是要求他額外「填問卷」，而是讓回饋變成遊戲流程的一部分。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/>
          </a:p>
        </p:txBody>
      </p:sp>
      <p:sp>
        <p:nvSpPr>
          <p:cNvPr id="289" name="Google Shape;2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第一張是</a:t>
            </a:r>
            <a:r>
              <a:rPr b="1" lang="en-US" sz="1100"/>
              <a:t>初階 Bingo</a:t>
            </a:r>
            <a:r>
              <a:rPr lang="en-US" sz="1100"/>
              <a:t>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它的目的不是要求使用者變得多健康，而是讓第一次來的人知道：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b="1" lang="en-US" sz="1100"/>
              <a:t>「原來這個平台可以這樣用。」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1100"/>
              <a:t>所以任務會包含使用地圖、記錄餐點、AI 辨識、查看營養資訊等等。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我們甚至會刻意把比較簡單的任務安排在容易連線的位置，降低第一次完成 Bingo 的難度。</a:t>
            </a:r>
            <a:endParaRPr b="1" sz="2300"/>
          </a:p>
        </p:txBody>
      </p:sp>
      <p:sp>
        <p:nvSpPr>
          <p:cNvPr id="300" name="Google Shape;3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獎勵同樣採取階梯式設計。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完成 </a:t>
            </a:r>
            <a:r>
              <a:rPr b="1" lang="en-US" sz="1100"/>
              <a:t>1 條線</a:t>
            </a:r>
            <a:r>
              <a:rPr lang="en-US" sz="1100"/>
              <a:t>，先提供低成本的超商搭配內容；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完成 </a:t>
            </a:r>
            <a:r>
              <a:rPr b="1" lang="en-US" sz="1100"/>
              <a:t>3 條線</a:t>
            </a:r>
            <a:r>
              <a:rPr lang="en-US" sz="1100"/>
              <a:t>，規劃合作店家優惠；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如果完成 </a:t>
            </a:r>
            <a:r>
              <a:rPr b="1" lang="en-US" sz="1100"/>
              <a:t>25 格大滿貫</a:t>
            </a:r>
            <a:r>
              <a:rPr lang="en-US" sz="1100"/>
              <a:t>，再進入抽獎、VIP 權限或進階挑戰。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所以獎勵不是單純送東西，而是：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/>
              <a:t>每一個獎勵，都推動下一個我們希望發生的使用行為。</a:t>
            </a:r>
            <a:endParaRPr b="1"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完成初階之後，才會解鎖第二張</a:t>
            </a:r>
            <a:r>
              <a:rPr b="1" lang="en-US" sz="1100"/>
              <a:t>進階 Bingo</a:t>
            </a:r>
            <a:r>
              <a:rPr lang="en-US" sz="1100"/>
              <a:t>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這兩張卡負責不同任務：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/>
              <a:t>初階負責 Activation，也就是讓人開始用；進階負責 Retention，讓人繼續用。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進階挑戰會延長到 7 到 14 天。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前五天先建立完整紀錄習慣；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第六到第十天，開始讓使用者根據數據調整下一餐；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到最後階段，不只是記錄自己吃了什麼，而是開始利用平台資訊改善自己的外食選擇。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所以我們真正希望養成的不是「每天登入」，而是：</a:t>
            </a:r>
            <a:endParaRPr sz="1100"/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/>
              <a:t>看到自己的飲食狀況 → 做出下一餐選擇 → 再回來記錄。</a:t>
            </a:r>
            <a:endParaRPr b="1"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/>
              <a:t>形成循環。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8" name="Google Shape;35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2" name="Google Shape;4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4" name="Google Shape;4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8" name="Google Shape;46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2" name="Google Shape;49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fae0d61fe3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0" name="Google Shape;550;g3fae0d61fe3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is-pre-ypjf5ywpgiwykkzp7vwjvk-567919886936.asia-east1.run.app/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ais-pre-ypjf5ywpgiwykkzp7vwjvk-567919886936.asia-east1.run.app/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5261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594360" y="594360"/>
            <a:ext cx="2377440" cy="384048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40080" y="626340"/>
            <a:ext cx="22860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行銷專題簡報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594360" y="1232630"/>
            <a:ext cx="5577840" cy="6894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外食・健康吃 </a:t>
            </a:r>
            <a:r>
              <a:rPr b="1" i="0" lang="en-US" sz="4000" u="sng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🍱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94360" y="2093008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聰明選擇，健康每一餐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94360" y="2612897"/>
            <a:ext cx="3604014" cy="118186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F612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外食族的</a:t>
            </a:r>
            <a:endParaRPr b="1" i="0" sz="3600" u="none" cap="none" strike="noStrike">
              <a:solidFill>
                <a:srgbClr val="4F612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4F6128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無痛健康提案</a:t>
            </a:r>
            <a:endParaRPr b="0" i="0" sz="3600" u="none" cap="none" strike="noStrike">
              <a:solidFill>
                <a:srgbClr val="4F6128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94360" y="4557597"/>
            <a:ext cx="5120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第八組｜高婉瑜・劉婉萱・王洺方</a:t>
            </a:r>
            <a:r>
              <a:rPr lang="en-US" sz="1600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・傅品蓉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94360" y="5074920"/>
            <a:ext cx="2660116" cy="475488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40079" y="5152619"/>
            <a:ext cx="2614397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報告日期｜2026 / 08 / 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76a3d3b5-428c-4b8e-9fb3-87b83937016d.png"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5346" y="2088682"/>
            <a:ext cx="7128026" cy="341215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 title="26082709363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97325" y="544063"/>
            <a:ext cx="1256575" cy="125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目標客群與核心痛點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每週外食超過 15 餐的高壓職場工作者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594360" y="1280160"/>
            <a:ext cx="3246120" cy="452628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868680" y="1572768"/>
            <a:ext cx="1371600" cy="384048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914400" y="159105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目標客群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68680" y="2194560"/>
            <a:ext cx="2651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高頻外食族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68680" y="2926080"/>
            <a:ext cx="2697480" cy="1735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27425" spcFirstLastPara="1" rIns="27425" wrap="square" tIns="4570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每週外食超過 15 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重視效率、沒時間備餐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希望快速找到健康選擇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4160520" y="1280160"/>
            <a:ext cx="7406640" cy="4526280"/>
          </a:xfrm>
          <a:prstGeom prst="roundRect">
            <a:avLst>
              <a:gd fmla="val 16667" name="adj"/>
            </a:avLst>
          </a:prstGeom>
          <a:solidFill>
            <a:srgbClr val="F4F2EA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4480560" y="1572768"/>
            <a:ext cx="1371600" cy="384048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4526280" y="1591056"/>
            <a:ext cx="1280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核心痛點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4480560" y="2148840"/>
            <a:ext cx="960120" cy="50292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4526280" y="2167128"/>
            <a:ext cx="868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623560" y="21488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找餐難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6903720" y="214884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不知道附近哪裡有健康餐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4480560" y="3154680"/>
            <a:ext cx="960120" cy="50292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4526280" y="3172968"/>
            <a:ext cx="868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623560" y="315468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判斷難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903720" y="315468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熱量與營養素難掌控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4480560" y="4160520"/>
            <a:ext cx="960120" cy="50292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4526280" y="4178808"/>
            <a:ext cx="868680" cy="466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5623560" y="416052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紀錄難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6903720" y="4160520"/>
            <a:ext cx="4069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手動計算繁瑣，容易放棄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4480560" y="5246959"/>
            <a:ext cx="6492240" cy="35086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問題不是不知道要健康，而是健康管理的操作成本太高。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從痛點到平台解法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平台定位：外食營養管理工具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640080" y="1417320"/>
            <a:ext cx="5257800" cy="160020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868680" y="1673352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914400" y="1691640"/>
            <a:ext cx="1463039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地圖雷達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868680" y="2203704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秒找到附近健康餐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6263640" y="1417320"/>
            <a:ext cx="5257800" cy="160020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492240" y="1673352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 txBox="1"/>
          <p:nvPr/>
        </p:nvSpPr>
        <p:spPr>
          <a:xfrm>
            <a:off x="6537960" y="1705332"/>
            <a:ext cx="155448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Gemini AI 拍照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 txBox="1"/>
          <p:nvPr/>
        </p:nvSpPr>
        <p:spPr>
          <a:xfrm>
            <a:off x="6492240" y="2203704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拍照快速辨識餐點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40080" y="3474720"/>
            <a:ext cx="5257800" cy="160020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868680" y="3730752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 txBox="1"/>
          <p:nvPr/>
        </p:nvSpPr>
        <p:spPr>
          <a:xfrm>
            <a:off x="914400" y="3749039"/>
            <a:ext cx="1463039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一鍵紀錄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868680" y="4261104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追蹤每日營養攝取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263640" y="3474720"/>
            <a:ext cx="5257800" cy="160020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492240" y="3730752"/>
            <a:ext cx="1554480" cy="384048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6537960" y="3749039"/>
            <a:ext cx="1463039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健康指南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6492240" y="4261104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降低外食選擇門檻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777240" y="5715000"/>
            <a:ext cx="10698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核心解法：地圖找餐＋AI 拍照＋營養紀錄，讓每一餐都能更快做出健康決策。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行銷真正要解決的問題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有了工具，為什麼使用者還是不會持續使用？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" name="Google Shape;167;p4"/>
          <p:cNvGrpSpPr/>
          <p:nvPr/>
        </p:nvGrpSpPr>
        <p:grpSpPr>
          <a:xfrm>
            <a:off x="1305080" y="1371600"/>
            <a:ext cx="4790767" cy="4206240"/>
            <a:chOff x="666136" y="1417320"/>
            <a:chExt cx="4790767" cy="4206240"/>
          </a:xfrm>
        </p:grpSpPr>
        <p:sp>
          <p:nvSpPr>
            <p:cNvPr id="168" name="Google Shape;168;p4"/>
            <p:cNvSpPr/>
            <p:nvPr/>
          </p:nvSpPr>
          <p:spPr>
            <a:xfrm>
              <a:off x="666136" y="1417320"/>
              <a:ext cx="4790767" cy="4206240"/>
            </a:xfrm>
            <a:prstGeom prst="roundRect">
              <a:avLst>
                <a:gd fmla="val 16667" name="adj"/>
              </a:avLst>
            </a:prstGeom>
            <a:solidFill>
              <a:srgbClr val="FFFFFC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4"/>
            <p:cNvSpPr txBox="1"/>
            <p:nvPr/>
          </p:nvSpPr>
          <p:spPr>
            <a:xfrm>
              <a:off x="1158726" y="1978160"/>
              <a:ext cx="3805500" cy="289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27425" spcFirstLastPara="1" rIns="27425" wrap="square" tIns="45700">
              <a:spAutoFit/>
            </a:bodyPr>
            <a:lstStyle/>
            <a:p>
              <a:pPr indent="0" lvl="0" marL="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26262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• 不知道平台有哪些功能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26262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• 第一次造訪摩擦力高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26262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• 問卷填寫率低、回饋不完整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26262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• 缺乏動力持續回到平台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2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26262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• 難以建立長期健康習慣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0" name="Google Shape;170;p4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6603285" y="1314573"/>
            <a:ext cx="3886200" cy="429768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 txBox="1"/>
          <p:nvPr/>
        </p:nvSpPr>
        <p:spPr>
          <a:xfrm>
            <a:off x="6923313" y="2961187"/>
            <a:ext cx="3246000" cy="9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透過遊戲化機制</a:t>
            </a:r>
            <a:br>
              <a:rPr b="1" i="0" lang="en-US" sz="32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i="0" lang="en-US" sz="28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推動使用者行為</a:t>
            </a:r>
            <a:endParaRPr b="0" i="0" sz="2800" u="none" cap="none" strike="noStrike">
              <a:solidFill>
                <a:schemeClr val="dk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502920" y="3200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Campaign Big Idea｜30 天健康外食 Bingo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 txBox="1"/>
          <p:nvPr/>
        </p:nvSpPr>
        <p:spPr>
          <a:xfrm>
            <a:off x="1051560" y="749808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任選任務連成一線，就能解鎖獎勵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85800" y="1371600"/>
            <a:ext cx="4754880" cy="44348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05840" y="1691640"/>
            <a:ext cx="2331720" cy="43891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1042416" y="1753425"/>
            <a:ext cx="2258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使用</a:t>
            </a: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者看到的活動規則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 txBox="1"/>
          <p:nvPr/>
        </p:nvSpPr>
        <p:spPr>
          <a:xfrm>
            <a:off x="1005840" y="242316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不用完成 25 格。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 txBox="1"/>
          <p:nvPr/>
        </p:nvSpPr>
        <p:spPr>
          <a:xfrm>
            <a:off x="1005840" y="3200400"/>
            <a:ext cx="4114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任選 5 個任務連成一線</a:t>
            </a:r>
            <a:br>
              <a:rPr b="1" i="0" lang="en-US" sz="20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即可取得第一階段獎勵。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1005840" y="43434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降低規則理解成本，先讓人願意開始。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5760720" y="1371600"/>
            <a:ext cx="5715000" cy="4434840"/>
          </a:xfrm>
          <a:prstGeom prst="roundRect">
            <a:avLst>
              <a:gd fmla="val 16667" name="adj"/>
            </a:avLst>
          </a:prstGeom>
          <a:solidFill>
            <a:srgbClr val="F4F2EA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217920" y="1783080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6217920" y="1783080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7132320" y="1783080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 txBox="1"/>
          <p:nvPr/>
        </p:nvSpPr>
        <p:spPr>
          <a:xfrm>
            <a:off x="7132320" y="1783080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8046720" y="1783080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8046720" y="1783080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8961120" y="1783080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8961120" y="1783080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9875520" y="1783080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 txBox="1"/>
          <p:nvPr/>
        </p:nvSpPr>
        <p:spPr>
          <a:xfrm>
            <a:off x="9875520" y="1783080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6217920" y="2487168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6217920" y="2487168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7132320" y="2487168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7132320" y="2487168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8046720" y="2487168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8046720" y="2487168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8961120" y="2487168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8961120" y="2487168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9875520" y="2487168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9875520" y="2487168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6217920" y="3191256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52613F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6217920" y="3191256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7132320" y="3191256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52613F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 txBox="1"/>
          <p:nvPr/>
        </p:nvSpPr>
        <p:spPr>
          <a:xfrm>
            <a:off x="7132320" y="3191256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8046720" y="3191256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52613F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 txBox="1"/>
          <p:nvPr/>
        </p:nvSpPr>
        <p:spPr>
          <a:xfrm>
            <a:off x="8046720" y="3191256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8961120" y="3191256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52613F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8961120" y="3191256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9875520" y="3191256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52613F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5"/>
          <p:cNvSpPr txBox="1"/>
          <p:nvPr/>
        </p:nvSpPr>
        <p:spPr>
          <a:xfrm>
            <a:off x="9875520" y="3191256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6217920" y="3895344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6217920" y="3895344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7132320" y="3895344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7132320" y="3895344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8046720" y="3895344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8046720" y="3895344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8961120" y="3895344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 txBox="1"/>
          <p:nvPr/>
        </p:nvSpPr>
        <p:spPr>
          <a:xfrm>
            <a:off x="8961120" y="3895344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9875520" y="3895344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9875520" y="3895344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217920" y="4599432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6217920" y="4599432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7132320" y="4599432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7132320" y="4599432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8046720" y="4599432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 txBox="1"/>
          <p:nvPr/>
        </p:nvSpPr>
        <p:spPr>
          <a:xfrm>
            <a:off x="8046720" y="4599432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8961120" y="4599432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8961120" y="4599432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9875520" y="4599432"/>
            <a:ext cx="758952" cy="5486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9875520" y="4599432"/>
            <a:ext cx="75895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 txBox="1"/>
          <p:nvPr/>
        </p:nvSpPr>
        <p:spPr>
          <a:xfrm>
            <a:off x="6217920" y="54132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示意：完成任一條線即可，不要求一次全滿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 txBox="1"/>
          <p:nvPr/>
        </p:nvSpPr>
        <p:spPr>
          <a:xfrm>
            <a:off x="502920" y="3200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 txBox="1"/>
          <p:nvPr/>
        </p:nvSpPr>
        <p:spPr>
          <a:xfrm>
            <a:off x="1051560" y="256032"/>
            <a:ext cx="104700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600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運用 </a:t>
            </a:r>
            <a:r>
              <a:rPr b="1" lang="en-US" sz="2600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Bingo </a:t>
            </a:r>
            <a:r>
              <a:rPr b="1" lang="en-US" sz="2600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提升品牌忠誠度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每個機制都服務「參與 → 體驗 → 轉換 → 留存」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685800" y="1325880"/>
            <a:ext cx="1508760" cy="530352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722376" y="1344168"/>
            <a:ext cx="1435607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參與門檻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423160" y="1325880"/>
            <a:ext cx="3931920" cy="530352"/>
          </a:xfrm>
          <a:prstGeom prst="roundRect">
            <a:avLst>
              <a:gd fmla="val 16667" name="adj"/>
            </a:avLst>
          </a:prstGeom>
          <a:solidFill>
            <a:srgbClr val="F4F2EA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2651760" y="1344168"/>
            <a:ext cx="34746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任一條線即可完成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6"/>
          <p:cNvCxnSpPr/>
          <p:nvPr/>
        </p:nvCxnSpPr>
        <p:spPr>
          <a:xfrm>
            <a:off x="6473952" y="1591056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526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5" name="Google Shape;255;p6"/>
          <p:cNvSpPr/>
          <p:nvPr/>
        </p:nvSpPr>
        <p:spPr>
          <a:xfrm>
            <a:off x="7040880" y="1325880"/>
            <a:ext cx="4434840" cy="53035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7269480" y="1344168"/>
            <a:ext cx="397763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讓使用者願意開始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685800" y="2194560"/>
            <a:ext cx="1508760" cy="530352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722376" y="2212848"/>
            <a:ext cx="1435607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功能探索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2423160" y="2194560"/>
            <a:ext cx="3931920" cy="530352"/>
          </a:xfrm>
          <a:prstGeom prst="roundRect">
            <a:avLst>
              <a:gd fmla="val 16667" name="adj"/>
            </a:avLst>
          </a:prstGeom>
          <a:solidFill>
            <a:srgbClr val="F4F2EA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2651760" y="2212848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25 格對應不同功能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6"/>
          <p:cNvCxnSpPr/>
          <p:nvPr/>
        </p:nvCxnSpPr>
        <p:spPr>
          <a:xfrm>
            <a:off x="6473952" y="2459736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526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2" name="Google Shape;262;p6"/>
          <p:cNvSpPr/>
          <p:nvPr/>
        </p:nvSpPr>
        <p:spPr>
          <a:xfrm>
            <a:off x="7040880" y="2194560"/>
            <a:ext cx="4434840" cy="53035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7269480" y="2212848"/>
            <a:ext cx="397763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引導實際使用核心功能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85800" y="3063239"/>
            <a:ext cx="1508760" cy="530352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722376" y="3081527"/>
            <a:ext cx="1435607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即時回饋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2423160" y="3063239"/>
            <a:ext cx="3931920" cy="530352"/>
          </a:xfrm>
          <a:prstGeom prst="roundRect">
            <a:avLst>
              <a:gd fmla="val 16667" name="adj"/>
            </a:avLst>
          </a:prstGeom>
          <a:solidFill>
            <a:srgbClr val="F4F2EA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2651760" y="3081527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完成任務立即點亮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8" name="Google Shape;268;p6"/>
          <p:cNvCxnSpPr/>
          <p:nvPr/>
        </p:nvCxnSpPr>
        <p:spPr>
          <a:xfrm>
            <a:off x="6473952" y="3328415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526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9" name="Google Shape;269;p6"/>
          <p:cNvSpPr/>
          <p:nvPr/>
        </p:nvSpPr>
        <p:spPr>
          <a:xfrm>
            <a:off x="7040880" y="3063239"/>
            <a:ext cx="4434840" cy="53035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7269480" y="3122940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建立獲得感</a:t>
            </a: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及進度視覺化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685800" y="3931920"/>
            <a:ext cx="1508760" cy="530352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722376" y="3950207"/>
            <a:ext cx="1435607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分級獎勵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/>
          <p:nvPr/>
        </p:nvSpPr>
        <p:spPr>
          <a:xfrm>
            <a:off x="2423160" y="3931920"/>
            <a:ext cx="3931920" cy="530352"/>
          </a:xfrm>
          <a:prstGeom prst="roundRect">
            <a:avLst>
              <a:gd fmla="val 16667" name="adj"/>
            </a:avLst>
          </a:prstGeom>
          <a:solidFill>
            <a:srgbClr val="F4F2EA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2651760" y="3950207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1／3 條線＋25 格大滿貫逐步解鎖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5" name="Google Shape;275;p6"/>
          <p:cNvCxnSpPr/>
          <p:nvPr/>
        </p:nvCxnSpPr>
        <p:spPr>
          <a:xfrm>
            <a:off x="6473952" y="4197096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526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6" name="Google Shape;276;p6"/>
          <p:cNvSpPr/>
          <p:nvPr/>
        </p:nvSpPr>
        <p:spPr>
          <a:xfrm>
            <a:off x="7040880" y="3931920"/>
            <a:ext cx="4434840" cy="53035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7269480" y="3950207"/>
            <a:ext cx="3977639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推動更深度的平台體驗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/>
          <p:nvPr/>
        </p:nvSpPr>
        <p:spPr>
          <a:xfrm>
            <a:off x="685800" y="4800600"/>
            <a:ext cx="1508760" cy="530352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722376" y="4818888"/>
            <a:ext cx="1435607" cy="493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進階挑戰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2423160" y="4800600"/>
            <a:ext cx="3931920" cy="530352"/>
          </a:xfrm>
          <a:prstGeom prst="roundRect">
            <a:avLst>
              <a:gd fmla="val 16667" name="adj"/>
            </a:avLst>
          </a:prstGeom>
          <a:solidFill>
            <a:srgbClr val="F4F2EA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 txBox="1"/>
          <p:nvPr/>
        </p:nvSpPr>
        <p:spPr>
          <a:xfrm>
            <a:off x="2651760" y="4818888"/>
            <a:ext cx="3474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7–14 天連續任務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2" name="Google Shape;282;p6"/>
          <p:cNvCxnSpPr/>
          <p:nvPr/>
        </p:nvCxnSpPr>
        <p:spPr>
          <a:xfrm>
            <a:off x="6473952" y="5065776"/>
            <a:ext cx="429768" cy="0"/>
          </a:xfrm>
          <a:prstGeom prst="straightConnector1">
            <a:avLst/>
          </a:prstGeom>
          <a:noFill/>
          <a:ln cap="flat" cmpd="sng" w="25400">
            <a:solidFill>
              <a:srgbClr val="526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3" name="Google Shape;283;p6"/>
          <p:cNvSpPr/>
          <p:nvPr/>
        </p:nvSpPr>
        <p:spPr>
          <a:xfrm>
            <a:off x="7040880" y="4800600"/>
            <a:ext cx="4434840" cy="53035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7269480" y="4881614"/>
            <a:ext cx="397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透過持續</a:t>
            </a: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體驗</a:t>
            </a: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提高</a:t>
            </a: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留存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 txBox="1"/>
          <p:nvPr/>
        </p:nvSpPr>
        <p:spPr>
          <a:xfrm>
            <a:off x="457199" y="653820"/>
            <a:ext cx="11277295" cy="14542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規劃：任務完成 → 微問卷 → 回饋寫入 → 點亮 Bingo</a:t>
            </a:r>
            <a:endParaRPr b="1" i="0" sz="18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F2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將『繁複的數據收集問卷』拆進 Bingo 完成瞬間</a:t>
            </a:r>
            <a:endParaRPr b="1" i="0" sz="18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t/>
            </a:r>
            <a:endParaRPr b="1" i="0" sz="5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A2F2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任務完成後跳出微問卷 Emoji 卡片，答完蓋章並回饋結果</a:t>
            </a:r>
            <a:endParaRPr b="1" i="0" sz="18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graphicFrame>
        <p:nvGraphicFramePr>
          <p:cNvPr id="293" name="Google Shape;293;p8"/>
          <p:cNvGraphicFramePr/>
          <p:nvPr/>
        </p:nvGraphicFramePr>
        <p:xfrm>
          <a:off x="366851" y="21247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{E58B6BA3-5B5F-4E88-952C-5D27AC7E31CF}</a:tableStyleId>
              </a:tblPr>
              <a:tblGrid>
                <a:gridCol w="2626000"/>
                <a:gridCol w="4569425"/>
                <a:gridCol w="4262575"/>
              </a:tblGrid>
              <a:tr h="526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任務格子行為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101600" marB="101600" marR="91450" marL="91450">
                    <a:solidFill>
                      <a:srgbClr val="4A6B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 秒微問卷題目與卡片設計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101600" marB="101600" marR="91450" marL="91450">
                    <a:solidFill>
                      <a:srgbClr val="4A6B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畫面即時功能反饋</a:t>
                      </a:r>
                      <a:endParaRPr b="1" i="0" sz="1800" u="none" cap="none" strike="noStrike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101600" marB="101600" marR="91450" marL="91450">
                    <a:solidFill>
                      <a:srgbClr val="4A6B4A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啟動外食雷達</a:t>
                      </a:r>
                      <a:br>
                        <a:rPr b="1" i="0" lang="en-US" sz="17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1" lang="en-US" sz="14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附近</a:t>
                      </a:r>
                      <a:r>
                        <a:rPr b="1" i="0" lang="en-US" sz="14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店家地圖搜尋</a:t>
                      </a:r>
                      <a:endParaRPr b="1" i="0" sz="1700" u="none" cap="none" strike="noStrike">
                        <a:solidFill>
                          <a:srgbClr val="2A2F2D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101600" marB="101600" marR="152400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Q: 地圖店家豐富度符合期待嗎？</a:t>
                      </a:r>
                      <a:b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[🔘 非常豐富] [🔘 普通] [🔘 需要擴充]</a:t>
                      </a:r>
                      <a:endParaRPr sz="1400" u="none" cap="none" strike="noStrike"/>
                    </a:p>
                  </a:txBody>
                  <a:tcPr marT="101600" marB="101600" marR="152400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A6B4A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『回饋收到！</a:t>
                      </a:r>
                      <a:endParaRPr b="1" i="0" sz="1600" u="none" cap="none" strike="noStrike">
                        <a:solidFill>
                          <a:srgbClr val="4A6B4A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A6B4A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將為您優化地圖店家排序與篩選半徑。』</a:t>
                      </a:r>
                      <a:endParaRPr sz="1400" u="none" cap="none" strike="noStrike"/>
                    </a:p>
                  </a:txBody>
                  <a:tcPr marT="101600" marB="101600" marR="152400" marL="152400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解鎖超商無痛配</a:t>
                      </a:r>
                      <a:br>
                        <a:rPr b="1" i="0" lang="en-US" sz="17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1" i="0" lang="en-US" sz="14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超商黃金比例組合</a:t>
                      </a:r>
                      <a:endParaRPr b="1" i="0" sz="1700" u="none" cap="none" strike="noStrike">
                        <a:solidFill>
                          <a:srgbClr val="2A2F2D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101600" marB="101600" marR="152400" marL="152400"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Q: 超商推薦組合內容吸引人嗎？</a:t>
                      </a:r>
                      <a:b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[🔘 很有吸引力] [🔘 還不錯] [🔘 想看更多]</a:t>
                      </a:r>
                      <a:endParaRPr sz="1400" u="none" cap="none" strike="noStrike"/>
                    </a:p>
                  </a:txBody>
                  <a:tcPr marT="101600" marB="101600" marR="152400" marL="152400"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A6B4A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『評分成功！</a:t>
                      </a:r>
                      <a:endParaRPr b="1" i="0" sz="1600" u="none" cap="none" strike="noStrike">
                        <a:solidFill>
                          <a:srgbClr val="4A6B4A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A6B4A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超商黃金比例搭配包已完整存入檔案。』</a:t>
                      </a:r>
                      <a:endParaRPr sz="1400" u="none" cap="none" strike="noStrike"/>
                    </a:p>
                  </a:txBody>
                  <a:tcPr marT="101600" marB="101600" marR="152400" marL="152400">
                    <a:solidFill>
                      <a:srgbClr val="EEF2EE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打卡外食第一餐</a:t>
                      </a:r>
                      <a:br>
                        <a:rPr b="1" i="0" lang="en-US" sz="17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1" i="0" lang="en-US" sz="14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拍照辨識極速記錄</a:t>
                      </a:r>
                      <a:endParaRPr b="1" i="0" sz="1700" u="none" cap="none" strike="noStrike">
                        <a:solidFill>
                          <a:srgbClr val="2A2F2D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101600" marB="101600" marR="152400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Q: 剛剛拍照辨識結果準確嗎？</a:t>
                      </a:r>
                      <a:b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[🔘 超級準確] [🔘 需要微調] [🔘 辨識不出來]</a:t>
                      </a:r>
                      <a:endParaRPr sz="1400" u="none" cap="none" strike="noStrike"/>
                    </a:p>
                  </a:txBody>
                  <a:tcPr marT="101600" marB="101600" marR="152400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A6B4A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『辨識完成！</a:t>
                      </a:r>
                      <a:endParaRPr b="1" i="0" sz="1600" u="none" cap="none" strike="noStrike">
                        <a:solidFill>
                          <a:srgbClr val="4A6B4A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A6B4A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模型持續優化中，感謝您的測試！』</a:t>
                      </a:r>
                      <a:endParaRPr sz="1400" u="none" cap="none" strike="noStrike"/>
                    </a:p>
                  </a:txBody>
                  <a:tcPr marT="101600" marB="101600" marR="152400" marL="152400">
                    <a:solidFill>
                      <a:srgbClr val="FFFFFF"/>
                    </a:solidFill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00"/>
                        <a:buFont typeface="Arial"/>
                        <a:buNone/>
                      </a:pPr>
                      <a:r>
                        <a:rPr b="1" i="0" lang="en-US" sz="17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完整體驗全站功能</a:t>
                      </a:r>
                      <a:br>
                        <a:rPr b="1" i="0" lang="en-US" sz="17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1" i="0" lang="en-US" sz="1400" u="none" cap="none" strike="noStrike">
                          <a:solidFill>
                            <a:srgbClr val="2A2F2D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25 格全點亮大滿貫</a:t>
                      </a:r>
                      <a:endParaRPr b="1" i="0" sz="1700" u="none" cap="none" strike="noStrike">
                        <a:solidFill>
                          <a:srgbClr val="2A2F2D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</a:txBody>
                  <a:tcPr marT="101600" marB="101600" marR="152400" marL="152400"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Q: 寫下您對本平台的最寶貴意見？</a:t>
                      </a:r>
                      <a:b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</a:br>
                      <a:r>
                        <a:rPr b="1" i="0" lang="en-US" sz="1500" u="none" cap="none" strike="noStrike">
                          <a:solidFill>
                            <a:srgbClr val="606F60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[開放式優化意見輸入框]</a:t>
                      </a:r>
                      <a:endParaRPr sz="1400" u="none" cap="none" strike="noStrike"/>
                    </a:p>
                  </a:txBody>
                  <a:tcPr marT="101600" marB="101600" marR="152400" marL="152400">
                    <a:solidFill>
                      <a:srgbClr val="EEF2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A6B4A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『全站解鎖！</a:t>
                      </a:r>
                      <a:endParaRPr b="1" i="0" sz="1600" u="none" cap="none" strike="noStrike">
                        <a:solidFill>
                          <a:srgbClr val="4A6B4A"/>
                        </a:solidFill>
                        <a:latin typeface="Microsoft JhengHei"/>
                        <a:ea typeface="Microsoft JhengHei"/>
                        <a:cs typeface="Microsoft JhengHei"/>
                        <a:sym typeface="Microsoft JhengHei"/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4A6B4A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恭喜獲得 100% 中獎抽獎資格！』</a:t>
                      </a:r>
                      <a:endParaRPr sz="1400" u="none" cap="none" strike="noStrike"/>
                    </a:p>
                  </a:txBody>
                  <a:tcPr marT="101600" marB="101600" marR="152400" marL="152400">
                    <a:solidFill>
                      <a:srgbClr val="EEF2EE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8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13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</a:t>
            </a: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1051560" y="256045"/>
            <a:ext cx="10470000" cy="47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活動機制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 txBox="1"/>
          <p:nvPr/>
        </p:nvSpPr>
        <p:spPr>
          <a:xfrm>
            <a:off x="11064240" y="6492216"/>
            <a:ext cx="50292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02920" y="6510528"/>
            <a:ext cx="11201400" cy="9000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</a:t>
            </a: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 txBox="1"/>
          <p:nvPr/>
        </p:nvSpPr>
        <p:spPr>
          <a:xfrm>
            <a:off x="1051560" y="256032"/>
            <a:ext cx="104700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初階 5×5 Bingo｜</a:t>
            </a:r>
            <a:r>
              <a:rPr b="1" lang="en-US" sz="2600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模擬</a:t>
            </a: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活動介面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目標：讓新用戶開始操作、探索功能並留下回饋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>
            <a:off x="502920" y="1188720"/>
            <a:ext cx="11201400" cy="516636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06636ac-a371-44d1-8ffa-1a7f1bb12f02.png" id="307" name="Google Shape;3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269" y="1371600"/>
            <a:ext cx="10419557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7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11064240" y="6537960"/>
            <a:ext cx="502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/>
          <p:nvPr/>
        </p:nvSpPr>
        <p:spPr>
          <a:xfrm>
            <a:off x="0" y="13415"/>
            <a:ext cx="12191700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獎勵與轉換機制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獎勵不是附贈品，而是推動下一個使用行為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685800" y="1508760"/>
            <a:ext cx="3246120" cy="406908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1280160" y="1874519"/>
            <a:ext cx="2057400" cy="45720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1325880" y="1892807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 條線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9"/>
          <p:cNvSpPr txBox="1"/>
          <p:nvPr/>
        </p:nvSpPr>
        <p:spPr>
          <a:xfrm>
            <a:off x="960120" y="269748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超商隱藏組合特權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960120" y="3886200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降低首次參與門檻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480560" y="1508760"/>
            <a:ext cx="3246120" cy="406908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074920" y="1874519"/>
            <a:ext cx="2057400" cy="45720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 txBox="1"/>
          <p:nvPr/>
        </p:nvSpPr>
        <p:spPr>
          <a:xfrm>
            <a:off x="5120640" y="1892807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 條線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4754880" y="269748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規劃：合作店家優惠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 txBox="1"/>
          <p:nvPr/>
        </p:nvSpPr>
        <p:spPr>
          <a:xfrm>
            <a:off x="4754880" y="3886200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鼓勵探索更多功能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8275320" y="1508760"/>
            <a:ext cx="3246120" cy="406908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8869680" y="1874519"/>
            <a:ext cx="2057400" cy="45720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 txBox="1"/>
          <p:nvPr/>
        </p:nvSpPr>
        <p:spPr>
          <a:xfrm>
            <a:off x="8915400" y="1892807"/>
            <a:ext cx="19659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25 格大滿貫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8549640" y="2697480"/>
            <a:ext cx="2697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規劃：抽獎／VIP 權限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8549640" y="3886200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導向最終問卷與轉換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進階 5×5 Bingo｜高黏著挑戰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初階負責開始用；進階負責繼續用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685800" y="1371600"/>
            <a:ext cx="5166360" cy="443484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005840" y="1737360"/>
            <a:ext cx="2286000" cy="43891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1051560" y="1755648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初階｜Activation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 txBox="1"/>
          <p:nvPr/>
        </p:nvSpPr>
        <p:spPr>
          <a:xfrm>
            <a:off x="1005840" y="2686364"/>
            <a:ext cx="452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進站 → 操作 →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探索功能</a:t>
            </a: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→ 留下回饋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 txBox="1"/>
          <p:nvPr/>
        </p:nvSpPr>
        <p:spPr>
          <a:xfrm>
            <a:off x="1005840" y="3429000"/>
            <a:ext cx="4480560" cy="1375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27425" spcFirstLastPara="1" rIns="27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低門檻微任務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單線即可獲得獎勵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完成首次功能體驗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10"/>
          <p:cNvCxnSpPr/>
          <p:nvPr/>
        </p:nvCxnSpPr>
        <p:spPr>
          <a:xfrm>
            <a:off x="5943600" y="347472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687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49" name="Google Shape;349;p10"/>
          <p:cNvSpPr/>
          <p:nvPr/>
        </p:nvSpPr>
        <p:spPr>
          <a:xfrm>
            <a:off x="6355080" y="1371600"/>
            <a:ext cx="5166360" cy="443484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675120" y="1737360"/>
            <a:ext cx="2286000" cy="43891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6720840" y="1755648"/>
            <a:ext cx="21945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進階｜Retention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6675120" y="2686364"/>
            <a:ext cx="452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持續紀錄 →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建立習慣</a:t>
            </a: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→ 達成成就 → 回到平台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6675120" y="3429000"/>
            <a:ext cx="4480560" cy="1375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27425" spcFirstLastPara="1" rIns="27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連續 7–14 天任務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AI 辨識與營養達標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徽章與 VIP 折扣獎勵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"/>
          <p:cNvSpPr/>
          <p:nvPr/>
        </p:nvSpPr>
        <p:spPr>
          <a:xfrm>
            <a:off x="0" y="21648"/>
            <a:ext cx="12191700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613F"/>
              </a:buClr>
              <a:buSzPts val="1600"/>
              <a:buFont typeface="Microsoft JhengHei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 txBox="1"/>
          <p:nvPr/>
        </p:nvSpPr>
        <p:spPr>
          <a:xfrm>
            <a:off x="1051560" y="256789"/>
            <a:ext cx="10469880" cy="473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進階挑戰聚焦 14 天持續紀錄，透過數據回饋逐步改善每日營養均衡度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3" name="Google Shape;363;p11"/>
          <p:cNvGrpSpPr/>
          <p:nvPr/>
        </p:nvGrpSpPr>
        <p:grpSpPr>
          <a:xfrm>
            <a:off x="6659889" y="1679294"/>
            <a:ext cx="5070394" cy="1599881"/>
            <a:chOff x="6220271" y="2085024"/>
            <a:chExt cx="5510100" cy="1313100"/>
          </a:xfrm>
        </p:grpSpPr>
        <p:sp>
          <p:nvSpPr>
            <p:cNvPr id="364" name="Google Shape;364;p11"/>
            <p:cNvSpPr/>
            <p:nvPr/>
          </p:nvSpPr>
          <p:spPr>
            <a:xfrm>
              <a:off x="6224495" y="2085024"/>
              <a:ext cx="5501700" cy="1313100"/>
            </a:xfrm>
            <a:prstGeom prst="roundRect">
              <a:avLst>
                <a:gd fmla="val 16667" name="adj"/>
              </a:avLst>
            </a:prstGeom>
            <a:solidFill>
              <a:srgbClr val="FFFFFC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1"/>
            <p:cNvSpPr txBox="1"/>
            <p:nvPr/>
          </p:nvSpPr>
          <p:spPr>
            <a:xfrm>
              <a:off x="6220271" y="2276431"/>
              <a:ext cx="5510100" cy="93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lang="en-US" sz="1700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Week 1</a:t>
              </a:r>
              <a:r>
                <a:rPr b="1" i="0" lang="en-US" sz="1700" u="none" cap="none" strike="noStrike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：全天追蹤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養成每日完整記錄</a:t>
              </a:r>
              <a:r>
                <a:rPr lang="en-US" sz="1600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 3 </a:t>
              </a: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餐的基礎習慣，</a:t>
              </a:r>
              <a:endParaRPr b="0" i="0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看懂營養進度條與熱量扣額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6" name="Google Shape;366;p11"/>
          <p:cNvGrpSpPr/>
          <p:nvPr/>
        </p:nvGrpSpPr>
        <p:grpSpPr>
          <a:xfrm>
            <a:off x="6688856" y="3885305"/>
            <a:ext cx="5156966" cy="1708868"/>
            <a:chOff x="6249575" y="4320209"/>
            <a:chExt cx="5604179" cy="1313100"/>
          </a:xfrm>
        </p:grpSpPr>
        <p:sp>
          <p:nvSpPr>
            <p:cNvPr id="367" name="Google Shape;367;p11"/>
            <p:cNvSpPr/>
            <p:nvPr/>
          </p:nvSpPr>
          <p:spPr>
            <a:xfrm>
              <a:off x="6249575" y="4320209"/>
              <a:ext cx="5501700" cy="1313100"/>
            </a:xfrm>
            <a:prstGeom prst="roundRect">
              <a:avLst>
                <a:gd fmla="val 16667" name="adj"/>
              </a:avLst>
            </a:prstGeom>
            <a:solidFill>
              <a:srgbClr val="FFFFFC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1"/>
            <p:cNvSpPr txBox="1"/>
            <p:nvPr/>
          </p:nvSpPr>
          <p:spPr>
            <a:xfrm>
              <a:off x="6343654" y="4560961"/>
              <a:ext cx="5510100" cy="83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lang="en-US" sz="1700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Week 2</a:t>
              </a:r>
              <a:r>
                <a:rPr b="1" i="0" lang="en-US" sz="1700" u="none" cap="none" strike="noStrike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：</a:t>
              </a:r>
              <a:r>
                <a:rPr b="1" lang="en-US" sz="1700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全勤成就</a:t>
              </a:r>
              <a:endParaRPr b="1" sz="1700">
                <a:solidFill>
                  <a:srgbClr val="4A6B4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透過高頻推薦功能，達成</a:t>
              </a:r>
              <a:r>
                <a:rPr lang="en-US" sz="1600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每</a:t>
              </a: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日營養</a:t>
              </a:r>
              <a:r>
                <a:rPr lang="en-US" sz="1600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需求</a:t>
              </a: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，</a:t>
              </a:r>
              <a:endParaRPr b="0" i="0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解鎖『全勤達人』勳章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9" name="Google Shape;369;p11"/>
          <p:cNvSpPr/>
          <p:nvPr/>
        </p:nvSpPr>
        <p:spPr>
          <a:xfrm>
            <a:off x="697475" y="1603496"/>
            <a:ext cx="5501700" cy="423060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 txBox="1"/>
          <p:nvPr/>
        </p:nvSpPr>
        <p:spPr>
          <a:xfrm>
            <a:off x="1009625" y="2429965"/>
            <a:ext cx="4877400" cy="31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F2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連續紀錄 3-7 天</a:t>
            </a:r>
            <a:endParaRPr b="1" i="0" sz="16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驗證 3-Day 與 7-Day 產品活躍留存率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A2F2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 天全勤追蹤挑戰</a:t>
            </a:r>
            <a:endParaRPr b="1" i="0" sz="16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達成 14 天無中斷登入記錄，解鎖 </a:t>
            </a:r>
            <a:r>
              <a:rPr lang="en-US" sz="1600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VIP </a:t>
            </a: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超級大禮包</a:t>
            </a:r>
            <a:endParaRPr b="0" i="0" sz="1500" u="none" cap="none" strike="noStrike">
              <a:solidFill>
                <a:srgbClr val="606F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606F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371" name="Google Shape;371;p11"/>
          <p:cNvSpPr txBox="1"/>
          <p:nvPr/>
        </p:nvSpPr>
        <p:spPr>
          <a:xfrm>
            <a:off x="1390143" y="2207668"/>
            <a:ext cx="4059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A6B4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進階挑戰－外食達人 Master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"/>
          <p:cNvSpPr txBox="1"/>
          <p:nvPr/>
        </p:nvSpPr>
        <p:spPr>
          <a:xfrm>
            <a:off x="11064240" y="6492216"/>
            <a:ext cx="50292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02920" y="6510528"/>
            <a:ext cx="11201400" cy="9000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2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完整行銷漏斗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2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30 天 Campaign｜所有通路與活動，最後都服務同一條使用者旅程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11480" y="1554480"/>
            <a:ext cx="1691640" cy="356616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548640" y="1828800"/>
            <a:ext cx="1417320" cy="41148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 txBox="1"/>
          <p:nvPr/>
        </p:nvSpPr>
        <p:spPr>
          <a:xfrm>
            <a:off x="594360" y="1874496"/>
            <a:ext cx="132588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2"/>
          <p:cNvSpPr txBox="1"/>
          <p:nvPr/>
        </p:nvSpPr>
        <p:spPr>
          <a:xfrm>
            <a:off x="548640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曝光導流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2"/>
          <p:cNvSpPr txBox="1"/>
          <p:nvPr/>
        </p:nvSpPr>
        <p:spPr>
          <a:xfrm>
            <a:off x="548740" y="3520710"/>
            <a:ext cx="14172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短影音／KOL</a:t>
            </a:r>
            <a:b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／社群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12"/>
          <p:cNvCxnSpPr/>
          <p:nvPr/>
        </p:nvCxnSpPr>
        <p:spPr>
          <a:xfrm>
            <a:off x="2121408" y="3337560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687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88" name="Google Shape;388;p12"/>
          <p:cNvSpPr/>
          <p:nvPr/>
        </p:nvSpPr>
        <p:spPr>
          <a:xfrm>
            <a:off x="2350008" y="1554480"/>
            <a:ext cx="1691640" cy="356616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2487168" y="1828800"/>
            <a:ext cx="1417320" cy="41148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 txBox="1"/>
          <p:nvPr/>
        </p:nvSpPr>
        <p:spPr>
          <a:xfrm>
            <a:off x="2532888" y="1874496"/>
            <a:ext cx="132588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2487168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流量導入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2"/>
          <p:cNvSpPr txBox="1"/>
          <p:nvPr/>
        </p:nvSpPr>
        <p:spPr>
          <a:xfrm>
            <a:off x="2487168" y="3337560"/>
            <a:ext cx="1417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Landing Page</a:t>
            </a:r>
            <a:b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Bingo CTA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12"/>
          <p:cNvCxnSpPr/>
          <p:nvPr/>
        </p:nvCxnSpPr>
        <p:spPr>
          <a:xfrm>
            <a:off x="4059936" y="3337560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687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94" name="Google Shape;394;p12"/>
          <p:cNvSpPr/>
          <p:nvPr/>
        </p:nvSpPr>
        <p:spPr>
          <a:xfrm>
            <a:off x="4288536" y="1554480"/>
            <a:ext cx="1691640" cy="356616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4425696" y="1828800"/>
            <a:ext cx="1417320" cy="41148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 txBox="1"/>
          <p:nvPr/>
        </p:nvSpPr>
        <p:spPr>
          <a:xfrm>
            <a:off x="4471416" y="1874496"/>
            <a:ext cx="132588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 txBox="1"/>
          <p:nvPr/>
        </p:nvSpPr>
        <p:spPr>
          <a:xfrm>
            <a:off x="4425696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首次體驗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 txBox="1"/>
          <p:nvPr/>
        </p:nvSpPr>
        <p:spPr>
          <a:xfrm>
            <a:off x="4425696" y="3580185"/>
            <a:ext cx="1417320" cy="566309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任一條線 Bingo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12"/>
          <p:cNvCxnSpPr/>
          <p:nvPr/>
        </p:nvCxnSpPr>
        <p:spPr>
          <a:xfrm>
            <a:off x="5998464" y="3337560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687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0" name="Google Shape;400;p12"/>
          <p:cNvSpPr/>
          <p:nvPr/>
        </p:nvSpPr>
        <p:spPr>
          <a:xfrm>
            <a:off x="6227064" y="1554480"/>
            <a:ext cx="1691640" cy="356616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6364224" y="1828800"/>
            <a:ext cx="1417320" cy="41148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 txBox="1"/>
          <p:nvPr/>
        </p:nvSpPr>
        <p:spPr>
          <a:xfrm>
            <a:off x="6409944" y="1874496"/>
            <a:ext cx="132588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6364224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回饋蒐集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 txBox="1"/>
          <p:nvPr/>
        </p:nvSpPr>
        <p:spPr>
          <a:xfrm>
            <a:off x="6364224" y="3337560"/>
            <a:ext cx="1417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微互動問卷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12"/>
          <p:cNvCxnSpPr/>
          <p:nvPr/>
        </p:nvCxnSpPr>
        <p:spPr>
          <a:xfrm>
            <a:off x="7936992" y="3337560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687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06" name="Google Shape;406;p12"/>
          <p:cNvSpPr/>
          <p:nvPr/>
        </p:nvSpPr>
        <p:spPr>
          <a:xfrm>
            <a:off x="8165592" y="1554480"/>
            <a:ext cx="1691640" cy="356616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8302752" y="1828800"/>
            <a:ext cx="1417320" cy="41148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 txBox="1"/>
          <p:nvPr/>
        </p:nvSpPr>
        <p:spPr>
          <a:xfrm>
            <a:off x="8348472" y="1874496"/>
            <a:ext cx="132588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2"/>
          <p:cNvSpPr txBox="1"/>
          <p:nvPr/>
        </p:nvSpPr>
        <p:spPr>
          <a:xfrm>
            <a:off x="8302752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持續留存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2"/>
          <p:cNvSpPr txBox="1"/>
          <p:nvPr/>
        </p:nvSpPr>
        <p:spPr>
          <a:xfrm>
            <a:off x="8302752" y="3337560"/>
            <a:ext cx="1417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 天進階挑戰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p12"/>
          <p:cNvCxnSpPr/>
          <p:nvPr/>
        </p:nvCxnSpPr>
        <p:spPr>
          <a:xfrm>
            <a:off x="9875520" y="3337560"/>
            <a:ext cx="192024" cy="0"/>
          </a:xfrm>
          <a:prstGeom prst="straightConnector1">
            <a:avLst/>
          </a:prstGeom>
          <a:noFill/>
          <a:ln cap="flat" cmpd="sng" w="25400">
            <a:solidFill>
              <a:srgbClr val="68785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12" name="Google Shape;412;p12"/>
          <p:cNvSpPr/>
          <p:nvPr/>
        </p:nvSpPr>
        <p:spPr>
          <a:xfrm>
            <a:off x="10104120" y="1554480"/>
            <a:ext cx="1691640" cy="356616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10241280" y="1828800"/>
            <a:ext cx="1417320" cy="41148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 txBox="1"/>
          <p:nvPr/>
        </p:nvSpPr>
        <p:spPr>
          <a:xfrm>
            <a:off x="10287000" y="1874496"/>
            <a:ext cx="132588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10241280" y="2514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口碑擴散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2"/>
          <p:cNvSpPr txBox="1"/>
          <p:nvPr/>
        </p:nvSpPr>
        <p:spPr>
          <a:xfrm>
            <a:off x="10241280" y="3337560"/>
            <a:ext cx="1417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5E5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徽章／分享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2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曝光不是終點：真正的目標是把流量推進到體驗、回饋與留存。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2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3"/>
          <p:cNvSpPr/>
          <p:nvPr/>
        </p:nvSpPr>
        <p:spPr>
          <a:xfrm>
            <a:off x="8012210" y="3888322"/>
            <a:ext cx="1860871" cy="530352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3"/>
          <p:cNvSpPr txBox="1"/>
          <p:nvPr/>
        </p:nvSpPr>
        <p:spPr>
          <a:xfrm>
            <a:off x="8051105" y="3988080"/>
            <a:ext cx="1770097" cy="320088"/>
          </a:xfrm>
          <a:prstGeom prst="rect">
            <a:avLst/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4A6B4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 協同引流　　　　　　　　</a:t>
            </a:r>
            <a:endParaRPr b="1" i="0" sz="1800" u="none" cap="none" strike="noStrike">
              <a:solidFill>
                <a:srgbClr val="4A6B4A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3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內容與推廣策略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3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不同通路負責導流，但 CTA 統一導向 Bingo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13"/>
          <p:cNvGrpSpPr/>
          <p:nvPr/>
        </p:nvGrpSpPr>
        <p:grpSpPr>
          <a:xfrm>
            <a:off x="700604" y="1393687"/>
            <a:ext cx="5244737" cy="3820851"/>
            <a:chOff x="2788920" y="1280160"/>
            <a:chExt cx="8458200" cy="530352"/>
          </a:xfrm>
        </p:grpSpPr>
        <p:sp>
          <p:nvSpPr>
            <p:cNvPr id="431" name="Google Shape;431;p13"/>
            <p:cNvSpPr/>
            <p:nvPr/>
          </p:nvSpPr>
          <p:spPr>
            <a:xfrm>
              <a:off x="2788920" y="1280160"/>
              <a:ext cx="8458200" cy="53035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3"/>
            <p:cNvSpPr txBox="1"/>
            <p:nvPr/>
          </p:nvSpPr>
          <p:spPr>
            <a:xfrm>
              <a:off x="3109148" y="1404394"/>
              <a:ext cx="7909560" cy="3724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痛點直擊｜引起共鳴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外食選擇多，健康餐卻難找、營養難掌握。</a:t>
              </a:r>
              <a:endParaRPr b="0" i="0" sz="1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1" i="0" sz="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平台解法｜建立興趣</a:t>
              </a:r>
              <a:br>
                <a:rPr b="0" i="0" lang="en-US" sz="18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示範地圖找餐、AI 辨識與快速營養紀錄。</a:t>
              </a:r>
              <a:endParaRPr b="0" i="0" sz="16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b="0" i="0" sz="800" u="none" cap="none" strike="noStrik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Bingo CTA｜促進行動</a:t>
              </a:r>
              <a:br>
                <a:rPr b="0" i="0" lang="en-US" sz="17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引導進站挑戰 Bingo，完成一條線解鎖獎勵。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3" name="Google Shape;433;p13"/>
          <p:cNvGrpSpPr/>
          <p:nvPr/>
        </p:nvGrpSpPr>
        <p:grpSpPr>
          <a:xfrm>
            <a:off x="6286500" y="1393688"/>
            <a:ext cx="5244737" cy="1794226"/>
            <a:chOff x="2788920" y="2194560"/>
            <a:chExt cx="8458200" cy="530352"/>
          </a:xfrm>
        </p:grpSpPr>
        <p:sp>
          <p:nvSpPr>
            <p:cNvPr id="434" name="Google Shape;434;p13"/>
            <p:cNvSpPr/>
            <p:nvPr/>
          </p:nvSpPr>
          <p:spPr>
            <a:xfrm>
              <a:off x="2788920" y="2194560"/>
              <a:ext cx="8458200" cy="53035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3"/>
            <p:cNvSpPr txBox="1"/>
            <p:nvPr/>
          </p:nvSpPr>
          <p:spPr>
            <a:xfrm>
              <a:off x="3178386" y="2507349"/>
              <a:ext cx="7909560" cy="8917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26262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示範平台功能並引導粉絲參與挑戰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p13"/>
          <p:cNvGrpSpPr/>
          <p:nvPr/>
        </p:nvGrpSpPr>
        <p:grpSpPr>
          <a:xfrm>
            <a:off x="6286498" y="3379765"/>
            <a:ext cx="5244737" cy="1834773"/>
            <a:chOff x="2788920" y="4937760"/>
            <a:chExt cx="8458200" cy="530352"/>
          </a:xfrm>
        </p:grpSpPr>
        <p:sp>
          <p:nvSpPr>
            <p:cNvPr id="437" name="Google Shape;437;p13"/>
            <p:cNvSpPr/>
            <p:nvPr/>
          </p:nvSpPr>
          <p:spPr>
            <a:xfrm>
              <a:off x="2788920" y="4937760"/>
              <a:ext cx="8458200" cy="53035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13"/>
            <p:cNvSpPr txBox="1"/>
            <p:nvPr/>
          </p:nvSpPr>
          <p:spPr>
            <a:xfrm>
              <a:off x="3063239" y="5226039"/>
              <a:ext cx="7909560" cy="11513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26262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辦公商圈與職場社群進行痛點共鳴式推廣</a:t>
              </a:r>
              <a:endPara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9" name="Google Shape;439;p13"/>
          <p:cNvSpPr txBox="1"/>
          <p:nvPr/>
        </p:nvSpPr>
        <p:spPr>
          <a:xfrm>
            <a:off x="960120" y="5655454"/>
            <a:ext cx="10515600" cy="381643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統一 CTA：參與 Bingo → 體驗核心功能 → 留下微互動回饋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13"/>
          <p:cNvGrpSpPr/>
          <p:nvPr/>
        </p:nvGrpSpPr>
        <p:grpSpPr>
          <a:xfrm>
            <a:off x="2385712" y="1687792"/>
            <a:ext cx="1874519" cy="530352"/>
            <a:chOff x="731520" y="1280160"/>
            <a:chExt cx="1874519" cy="530352"/>
          </a:xfrm>
        </p:grpSpPr>
        <p:sp>
          <p:nvSpPr>
            <p:cNvPr id="443" name="Google Shape;443;p13"/>
            <p:cNvSpPr/>
            <p:nvPr/>
          </p:nvSpPr>
          <p:spPr>
            <a:xfrm>
              <a:off x="731520" y="1280160"/>
              <a:ext cx="1874519" cy="530352"/>
            </a:xfrm>
            <a:prstGeom prst="roundRect">
              <a:avLst>
                <a:gd fmla="val 16667" name="adj"/>
              </a:avLst>
            </a:prstGeom>
            <a:solidFill>
              <a:srgbClr val="EBF0E0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13"/>
            <p:cNvSpPr txBox="1"/>
            <p:nvPr/>
          </p:nvSpPr>
          <p:spPr>
            <a:xfrm>
              <a:off x="777239" y="1285533"/>
              <a:ext cx="1783079" cy="493775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短影音</a:t>
              </a:r>
              <a:endParaRPr b="1" i="0" sz="1800" u="none" cap="none" strike="noStrike">
                <a:solidFill>
                  <a:srgbClr val="4A6B4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grpSp>
        <p:nvGrpSpPr>
          <p:cNvPr id="445" name="Google Shape;445;p13"/>
          <p:cNvGrpSpPr/>
          <p:nvPr/>
        </p:nvGrpSpPr>
        <p:grpSpPr>
          <a:xfrm>
            <a:off x="7978430" y="1704851"/>
            <a:ext cx="2233499" cy="575049"/>
            <a:chOff x="731520" y="2194560"/>
            <a:chExt cx="2249880" cy="575049"/>
          </a:xfrm>
        </p:grpSpPr>
        <p:sp>
          <p:nvSpPr>
            <p:cNvPr id="446" name="Google Shape;446;p13"/>
            <p:cNvSpPr/>
            <p:nvPr/>
          </p:nvSpPr>
          <p:spPr>
            <a:xfrm>
              <a:off x="731520" y="2194560"/>
              <a:ext cx="1874519" cy="530352"/>
            </a:xfrm>
            <a:prstGeom prst="roundRect">
              <a:avLst>
                <a:gd fmla="val 16667" name="adj"/>
              </a:avLst>
            </a:prstGeom>
            <a:solidFill>
              <a:srgbClr val="EBF0E0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3"/>
            <p:cNvSpPr txBox="1"/>
            <p:nvPr/>
          </p:nvSpPr>
          <p:spPr>
            <a:xfrm>
              <a:off x="770700" y="2388009"/>
              <a:ext cx="2210700" cy="381600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KOL 協同引流　　　　　　　</a:t>
              </a:r>
              <a:endParaRPr b="1" i="0" sz="1800" u="none" cap="none" strike="noStrike">
                <a:solidFill>
                  <a:srgbClr val="4A6B4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  <p:sp>
        <p:nvSpPr>
          <p:cNvPr id="448" name="Google Shape;448;p13"/>
          <p:cNvSpPr/>
          <p:nvPr/>
        </p:nvSpPr>
        <p:spPr>
          <a:xfrm>
            <a:off x="7925887" y="3887480"/>
            <a:ext cx="1874519" cy="530352"/>
          </a:xfrm>
          <a:prstGeom prst="roundRect">
            <a:avLst>
              <a:gd fmla="val 16667" name="adj"/>
            </a:avLst>
          </a:prstGeom>
          <a:noFill/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p13"/>
          <p:cNvGrpSpPr/>
          <p:nvPr/>
        </p:nvGrpSpPr>
        <p:grpSpPr>
          <a:xfrm>
            <a:off x="7971937" y="3547164"/>
            <a:ext cx="1860871" cy="530352"/>
            <a:chOff x="731520" y="2194560"/>
            <a:chExt cx="1874519" cy="530352"/>
          </a:xfrm>
        </p:grpSpPr>
        <p:sp>
          <p:nvSpPr>
            <p:cNvPr id="450" name="Google Shape;450;p13"/>
            <p:cNvSpPr/>
            <p:nvPr/>
          </p:nvSpPr>
          <p:spPr>
            <a:xfrm>
              <a:off x="731520" y="2194560"/>
              <a:ext cx="1874519" cy="530352"/>
            </a:xfrm>
            <a:prstGeom prst="roundRect">
              <a:avLst>
                <a:gd fmla="val 16667" name="adj"/>
              </a:avLst>
            </a:prstGeom>
            <a:solidFill>
              <a:srgbClr val="EBF0E0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3"/>
            <p:cNvSpPr txBox="1"/>
            <p:nvPr/>
          </p:nvSpPr>
          <p:spPr>
            <a:xfrm>
              <a:off x="770700" y="2294318"/>
              <a:ext cx="1783079" cy="320088"/>
            </a:xfrm>
            <a:prstGeom prst="rect">
              <a:avLst/>
            </a:prstGeom>
            <a:noFill/>
            <a:ln>
              <a:noFill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社群口碑</a:t>
              </a:r>
              <a:endParaRPr b="1" i="0" sz="1800" u="none" cap="none" strike="noStrike">
                <a:solidFill>
                  <a:srgbClr val="4A6B4A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4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4"/>
          <p:cNvSpPr txBox="1"/>
          <p:nvPr/>
        </p:nvSpPr>
        <p:spPr>
          <a:xfrm>
            <a:off x="1051560" y="256788"/>
            <a:ext cx="10469880" cy="4739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 短影音合作提案｜以內容引流帶動 Bingo 參與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4"/>
          <p:cNvSpPr/>
          <p:nvPr/>
        </p:nvSpPr>
        <p:spPr>
          <a:xfrm>
            <a:off x="912734" y="925975"/>
            <a:ext cx="10381800" cy="531240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4"/>
          <p:cNvSpPr txBox="1"/>
          <p:nvPr/>
        </p:nvSpPr>
        <p:spPr>
          <a:xfrm>
            <a:off x="1670821" y="1949500"/>
            <a:ext cx="8865600" cy="33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2F2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受眾高度契合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前身為高壓外食上班族，粉絲輪廓與高頻外食族具有合作切入點</a:t>
            </a:r>
            <a:endParaRPr b="0" i="0" sz="1600" u="none" cap="none" strike="noStrike">
              <a:solidFill>
                <a:srgbClr val="606F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606F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2A2F2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影片秒數 Hook 觸發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『3 秒鐘，讓你快速在附近找到適合你的健康餐點！』</a:t>
            </a:r>
            <a:endParaRPr sz="1600">
              <a:solidFill>
                <a:srgbClr val="606F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1" i="0" sz="6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A2F2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實測主題企劃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【不自己煮也能瘦！一週外食健康吃大挑戰】趣味影音示範，直擊午休想餐痛點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2A2F2D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2A2F2D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留言、轉發、抽獎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  粉絲</a:t>
            </a:r>
            <a:r>
              <a:rPr lang="en-US" sz="1600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於</a:t>
            </a: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NeNe</a:t>
            </a:r>
            <a:r>
              <a:rPr lang="en-US" sz="1600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貼文下面進行留言互動，分享並抽獎</a:t>
            </a: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，即</a:t>
            </a:r>
            <a:r>
              <a:rPr lang="en-US" sz="1600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可抽 VIP </a:t>
            </a:r>
            <a:r>
              <a:rPr b="0" i="0" lang="en-US" sz="1600" u="none" cap="none" strike="noStrike">
                <a:solidFill>
                  <a:srgbClr val="606F6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大禮包</a:t>
            </a:r>
            <a:endParaRPr b="0" i="0" sz="1400" u="none" cap="none" strike="noStrike">
              <a:solidFill>
                <a:srgbClr val="606F60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3796321" y="1115372"/>
            <a:ext cx="4096500" cy="45720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 txBox="1"/>
          <p:nvPr/>
        </p:nvSpPr>
        <p:spPr>
          <a:xfrm>
            <a:off x="3832897" y="1186828"/>
            <a:ext cx="40599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KOL 合作執行構想｜NeNe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4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" name="Google Shape;471;p15"/>
          <p:cNvGrpSpPr/>
          <p:nvPr/>
        </p:nvGrpSpPr>
        <p:grpSpPr>
          <a:xfrm>
            <a:off x="579120" y="1280160"/>
            <a:ext cx="3246120" cy="5059318"/>
            <a:chOff x="4358639" y="1541780"/>
            <a:chExt cx="3246120" cy="5059318"/>
          </a:xfrm>
        </p:grpSpPr>
        <p:sp>
          <p:nvSpPr>
            <p:cNvPr id="472" name="Google Shape;472;p15"/>
            <p:cNvSpPr/>
            <p:nvPr/>
          </p:nvSpPr>
          <p:spPr>
            <a:xfrm>
              <a:off x="4358639" y="1541780"/>
              <a:ext cx="3246120" cy="5059318"/>
            </a:xfrm>
            <a:prstGeom prst="roundRect">
              <a:avLst>
                <a:gd fmla="val 16667" name="adj"/>
              </a:avLst>
            </a:prstGeom>
            <a:solidFill>
              <a:srgbClr val="FFFFFC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73" name="Google Shape;473;p15"/>
            <p:cNvSpPr/>
            <p:nvPr/>
          </p:nvSpPr>
          <p:spPr>
            <a:xfrm>
              <a:off x="4716703" y="1728461"/>
              <a:ext cx="2529992" cy="457200"/>
            </a:xfrm>
            <a:prstGeom prst="roundRect">
              <a:avLst>
                <a:gd fmla="val 16667" name="adj"/>
              </a:avLst>
            </a:prstGeom>
            <a:solidFill>
              <a:srgbClr val="EBF0E0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74" name="Google Shape;474;p15"/>
            <p:cNvSpPr txBox="1"/>
            <p:nvPr/>
          </p:nvSpPr>
          <p:spPr>
            <a:xfrm>
              <a:off x="4701386" y="1803997"/>
              <a:ext cx="2560626" cy="350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Hook Model 鉤子模型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15"/>
            <p:cNvSpPr txBox="1"/>
            <p:nvPr/>
          </p:nvSpPr>
          <p:spPr>
            <a:xfrm>
              <a:off x="4678679" y="2313066"/>
              <a:ext cx="2606040" cy="41724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社群觸發 (Trigger)：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KOL 趣味短影音引流、社群限動 Bingo 分享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極簡行動 (Action)：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透過『3秒找餐』、拍照辨識或超商配等極低門檻任務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變動獎勵 (Reward)：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解鎖超商隱藏版黃金比例搭配包，或獲得合作折價券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長期投資 (Investment)：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累積數天個人飲食檔案，建立長期健康數據，提高平台轉移成本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6" name="Google Shape;476;p15"/>
          <p:cNvGrpSpPr/>
          <p:nvPr/>
        </p:nvGrpSpPr>
        <p:grpSpPr>
          <a:xfrm>
            <a:off x="4331425" y="1280160"/>
            <a:ext cx="3246120" cy="5059318"/>
            <a:chOff x="4358639" y="1541780"/>
            <a:chExt cx="3246120" cy="5059318"/>
          </a:xfrm>
        </p:grpSpPr>
        <p:sp>
          <p:nvSpPr>
            <p:cNvPr id="477" name="Google Shape;477;p15"/>
            <p:cNvSpPr/>
            <p:nvPr/>
          </p:nvSpPr>
          <p:spPr>
            <a:xfrm>
              <a:off x="4358639" y="1541780"/>
              <a:ext cx="3246120" cy="5059318"/>
            </a:xfrm>
            <a:prstGeom prst="roundRect">
              <a:avLst>
                <a:gd fmla="val 16667" name="adj"/>
              </a:avLst>
            </a:prstGeom>
            <a:solidFill>
              <a:srgbClr val="FFFFFC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78" name="Google Shape;478;p15"/>
            <p:cNvSpPr/>
            <p:nvPr/>
          </p:nvSpPr>
          <p:spPr>
            <a:xfrm>
              <a:off x="4716703" y="1728461"/>
              <a:ext cx="2529992" cy="457200"/>
            </a:xfrm>
            <a:prstGeom prst="roundRect">
              <a:avLst>
                <a:gd fmla="val 16667" name="adj"/>
              </a:avLst>
            </a:prstGeom>
            <a:solidFill>
              <a:srgbClr val="EBF0E0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79" name="Google Shape;479;p15"/>
            <p:cNvSpPr txBox="1"/>
            <p:nvPr/>
          </p:nvSpPr>
          <p:spPr>
            <a:xfrm>
              <a:off x="4623085" y="1803997"/>
              <a:ext cx="2717228" cy="3508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D47A3B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Loss Aversion 損失趨避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15"/>
            <p:cNvSpPr txBox="1"/>
            <p:nvPr/>
          </p:nvSpPr>
          <p:spPr>
            <a:xfrm>
              <a:off x="4678679" y="2687528"/>
              <a:ext cx="2606100" cy="34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Near-Miss 效應：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人們對『差一格就連線』會產生強烈心理錯覺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對角線首日必通關：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刻意將最簡單的任務排在對角線，第1天即可達成一線，產生連線爽感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利用挽留心理：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為不想放棄已蓋好的章，促使使用者第2天、第3天主動打開平台完成新格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1" name="Google Shape;481;p15"/>
          <p:cNvGrpSpPr/>
          <p:nvPr/>
        </p:nvGrpSpPr>
        <p:grpSpPr>
          <a:xfrm>
            <a:off x="8083730" y="1280160"/>
            <a:ext cx="3246120" cy="5059318"/>
            <a:chOff x="4358639" y="1541780"/>
            <a:chExt cx="3246120" cy="5059318"/>
          </a:xfrm>
        </p:grpSpPr>
        <p:sp>
          <p:nvSpPr>
            <p:cNvPr id="482" name="Google Shape;482;p15"/>
            <p:cNvSpPr/>
            <p:nvPr/>
          </p:nvSpPr>
          <p:spPr>
            <a:xfrm>
              <a:off x="4358639" y="1541780"/>
              <a:ext cx="3246120" cy="5059318"/>
            </a:xfrm>
            <a:prstGeom prst="roundRect">
              <a:avLst>
                <a:gd fmla="val 16667" name="adj"/>
              </a:avLst>
            </a:prstGeom>
            <a:solidFill>
              <a:srgbClr val="FFFFFC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83" name="Google Shape;483;p15"/>
            <p:cNvSpPr/>
            <p:nvPr/>
          </p:nvSpPr>
          <p:spPr>
            <a:xfrm>
              <a:off x="4716703" y="1728460"/>
              <a:ext cx="2529992" cy="755867"/>
            </a:xfrm>
            <a:prstGeom prst="roundRect">
              <a:avLst>
                <a:gd fmla="val 16667" name="adj"/>
              </a:avLst>
            </a:prstGeom>
            <a:solidFill>
              <a:srgbClr val="EBF0E0"/>
            </a:solidFill>
            <a:ln cap="flat" cmpd="sng" w="9525">
              <a:solidFill>
                <a:srgbClr val="DBD7C9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2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endParaRPr>
            </a:p>
          </p:txBody>
        </p:sp>
        <p:sp>
          <p:nvSpPr>
            <p:cNvPr id="484" name="Google Shape;484;p15"/>
            <p:cNvSpPr txBox="1"/>
            <p:nvPr/>
          </p:nvSpPr>
          <p:spPr>
            <a:xfrm>
              <a:off x="4701386" y="1676023"/>
              <a:ext cx="2560626" cy="8074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Progressive Survey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140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4A6B4A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漸進式問卷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15"/>
            <p:cNvSpPr txBox="1"/>
            <p:nvPr/>
          </p:nvSpPr>
          <p:spPr>
            <a:xfrm>
              <a:off x="4678679" y="2687528"/>
              <a:ext cx="2606040" cy="34235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6575" lIns="36575" spcFirstLastPara="1" rIns="36575" wrap="square" tIns="365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拆解傳統長問卷：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將 25 題繁雜問卷拆散，與 25 格 Bingo 任務完美綁定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點擊格子即填答：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點亮格子時，僅跳出 1 秒點擊的 Emoji 卡片，不中斷操作流程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後台數據即時寫入：</a:t>
              </a:r>
              <a:b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</a:br>
              <a:r>
                <a:rPr b="0" i="0" lang="en-US" sz="1600" u="none" cap="none" strike="noStrike">
                  <a:solidFill>
                    <a:srgbClr val="606F60"/>
                  </a:solidFill>
                  <a:latin typeface="Microsoft JhengHei"/>
                  <a:ea typeface="Microsoft JhengHei"/>
                  <a:cs typeface="Microsoft JhengHei"/>
                  <a:sym typeface="Microsoft JhengHei"/>
                </a:rPr>
                <a:t>點擊瞬間即將反饋寫入資料庫，達成流暢體驗與高回收率雙贏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6" name="Google Shape;486;p15"/>
          <p:cNvSpPr txBox="1"/>
          <p:nvPr/>
        </p:nvSpPr>
        <p:spPr>
          <a:xfrm>
            <a:off x="502920" y="333732"/>
            <a:ext cx="45720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1"/>
              </a:buClr>
              <a:buSzPts val="2600"/>
              <a:buFont typeface="Microsoft JhengHei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融合三大行為科學模型，首日對角線設計驅動用戶持續開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5"/>
          <p:cNvSpPr txBox="1"/>
          <p:nvPr/>
        </p:nvSpPr>
        <p:spPr>
          <a:xfrm>
            <a:off x="11064240" y="6492216"/>
            <a:ext cx="502920" cy="32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502920" y="6510528"/>
            <a:ext cx="11201400" cy="9000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6"/>
          <p:cNvSpPr txBox="1"/>
          <p:nvPr/>
        </p:nvSpPr>
        <p:spPr>
          <a:xfrm>
            <a:off x="502920" y="3200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6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KPI｜把「參與」與「資料量」分開計算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6"/>
          <p:cNvSpPr txBox="1"/>
          <p:nvPr/>
        </p:nvSpPr>
        <p:spPr>
          <a:xfrm>
            <a:off x="1051560" y="749808"/>
            <a:ext cx="10241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避免把 2</a:t>
            </a:r>
            <a:r>
              <a:rPr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,</a:t>
            </a: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000 筆回答誤解成 2,000 位使用者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6"/>
          <p:cNvSpPr/>
          <p:nvPr/>
        </p:nvSpPr>
        <p:spPr>
          <a:xfrm>
            <a:off x="594360" y="123444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6"/>
          <p:cNvSpPr txBox="1"/>
          <p:nvPr/>
        </p:nvSpPr>
        <p:spPr>
          <a:xfrm>
            <a:off x="822960" y="132588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Bingo 參與人數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6"/>
          <p:cNvSpPr txBox="1"/>
          <p:nvPr/>
        </p:nvSpPr>
        <p:spPr>
          <a:xfrm>
            <a:off x="2560320" y="132588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實際開始挑戰的獨立使用者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6"/>
          <p:cNvSpPr/>
          <p:nvPr/>
        </p:nvSpPr>
        <p:spPr>
          <a:xfrm>
            <a:off x="6217920" y="123444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6"/>
          <p:cNvSpPr txBox="1"/>
          <p:nvPr/>
        </p:nvSpPr>
        <p:spPr>
          <a:xfrm>
            <a:off x="6446520" y="132588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任務完成數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6"/>
          <p:cNvSpPr txBox="1"/>
          <p:nvPr/>
        </p:nvSpPr>
        <p:spPr>
          <a:xfrm>
            <a:off x="8183880" y="132588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所有使用者完成的格數總和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6"/>
          <p:cNvSpPr/>
          <p:nvPr/>
        </p:nvSpPr>
        <p:spPr>
          <a:xfrm>
            <a:off x="594360" y="256032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6"/>
          <p:cNvSpPr txBox="1"/>
          <p:nvPr/>
        </p:nvSpPr>
        <p:spPr>
          <a:xfrm>
            <a:off x="822960" y="265176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Bingo 完成率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6"/>
          <p:cNvSpPr txBox="1"/>
          <p:nvPr/>
        </p:nvSpPr>
        <p:spPr>
          <a:xfrm>
            <a:off x="2560320" y="265176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至少完成一條線的使用者比例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6"/>
          <p:cNvSpPr/>
          <p:nvPr/>
        </p:nvSpPr>
        <p:spPr>
          <a:xfrm>
            <a:off x="6217920" y="256032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6"/>
          <p:cNvSpPr txBox="1"/>
          <p:nvPr/>
        </p:nvSpPr>
        <p:spPr>
          <a:xfrm>
            <a:off x="6446520" y="2651760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有效微問卷數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6"/>
          <p:cNvSpPr txBox="1"/>
          <p:nvPr/>
        </p:nvSpPr>
        <p:spPr>
          <a:xfrm>
            <a:off x="8183880" y="2651760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符合分析條件的功能回饋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594360" y="388620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 txBox="1"/>
          <p:nvPr/>
        </p:nvSpPr>
        <p:spPr>
          <a:xfrm>
            <a:off x="822960" y="3977639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核心功能使用率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6"/>
          <p:cNvSpPr txBox="1"/>
          <p:nvPr/>
        </p:nvSpPr>
        <p:spPr>
          <a:xfrm>
            <a:off x="2560320" y="3977639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實際使用地圖／AI 等功能比例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6"/>
          <p:cNvSpPr/>
          <p:nvPr/>
        </p:nvSpPr>
        <p:spPr>
          <a:xfrm>
            <a:off x="6217920" y="3886200"/>
            <a:ext cx="5257800" cy="960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6"/>
          <p:cNvSpPr txBox="1"/>
          <p:nvPr/>
        </p:nvSpPr>
        <p:spPr>
          <a:xfrm>
            <a:off x="6446520" y="3977639"/>
            <a:ext cx="16916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 日留存率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6"/>
          <p:cNvSpPr txBox="1"/>
          <p:nvPr/>
        </p:nvSpPr>
        <p:spPr>
          <a:xfrm>
            <a:off x="8183880" y="3977639"/>
            <a:ext cx="2971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 7 日仍回到平台的使用者比例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6"/>
          <p:cNvSpPr/>
          <p:nvPr/>
        </p:nvSpPr>
        <p:spPr>
          <a:xfrm>
            <a:off x="1828800" y="5440680"/>
            <a:ext cx="8549640" cy="59436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6"/>
          <p:cNvSpPr txBox="1"/>
          <p:nvPr/>
        </p:nvSpPr>
        <p:spPr>
          <a:xfrm>
            <a:off x="2011680" y="5577817"/>
            <a:ext cx="8183879" cy="32008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目標：首月微互動問卷有效回收 &gt; 2,000 筆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6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6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7"/>
          <p:cNvSpPr txBox="1"/>
          <p:nvPr/>
        </p:nvSpPr>
        <p:spPr>
          <a:xfrm>
            <a:off x="502920" y="320040"/>
            <a:ext cx="457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7"/>
          <p:cNvSpPr txBox="1"/>
          <p:nvPr/>
        </p:nvSpPr>
        <p:spPr>
          <a:xfrm>
            <a:off x="1051560" y="256032"/>
            <a:ext cx="104698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結論｜這是一場「遊戲化產品體驗行銷」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7"/>
          <p:cNvSpPr txBox="1"/>
          <p:nvPr/>
        </p:nvSpPr>
        <p:spPr>
          <a:xfrm>
            <a:off x="1051560" y="749808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不是把問卷做成 Bingo，而是把平台體驗設計成可持續的行動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502920" y="1508760"/>
            <a:ext cx="2514600" cy="3246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1005840" y="1828800"/>
            <a:ext cx="1508760" cy="45720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"/>
          <p:cNvSpPr txBox="1"/>
          <p:nvPr/>
        </p:nvSpPr>
        <p:spPr>
          <a:xfrm>
            <a:off x="1042416" y="1847088"/>
            <a:ext cx="1435607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參與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7"/>
          <p:cNvSpPr txBox="1"/>
          <p:nvPr/>
        </p:nvSpPr>
        <p:spPr>
          <a:xfrm>
            <a:off x="777240" y="2697480"/>
            <a:ext cx="1965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單線成金降低第一次加入門檻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7"/>
          <p:cNvSpPr/>
          <p:nvPr/>
        </p:nvSpPr>
        <p:spPr>
          <a:xfrm>
            <a:off x="3383280" y="1508760"/>
            <a:ext cx="2514600" cy="3246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3886200" y="1828800"/>
            <a:ext cx="1508760" cy="45720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 txBox="1"/>
          <p:nvPr/>
        </p:nvSpPr>
        <p:spPr>
          <a:xfrm>
            <a:off x="3922776" y="1847088"/>
            <a:ext cx="1435607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體驗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7"/>
          <p:cNvSpPr txBox="1"/>
          <p:nvPr/>
        </p:nvSpPr>
        <p:spPr>
          <a:xfrm>
            <a:off x="3657600" y="2697480"/>
            <a:ext cx="1965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任務直接連結平台核心功能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6263640" y="1508760"/>
            <a:ext cx="2514600" cy="3246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7"/>
          <p:cNvSpPr/>
          <p:nvPr/>
        </p:nvSpPr>
        <p:spPr>
          <a:xfrm>
            <a:off x="6766559" y="1828800"/>
            <a:ext cx="1508760" cy="45720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7"/>
          <p:cNvSpPr txBox="1"/>
          <p:nvPr/>
        </p:nvSpPr>
        <p:spPr>
          <a:xfrm>
            <a:off x="6803136" y="1847088"/>
            <a:ext cx="1435607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轉換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7"/>
          <p:cNvSpPr txBox="1"/>
          <p:nvPr/>
        </p:nvSpPr>
        <p:spPr>
          <a:xfrm>
            <a:off x="6537959" y="2697480"/>
            <a:ext cx="1965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分級獎勵推動更深度使用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7"/>
          <p:cNvSpPr/>
          <p:nvPr/>
        </p:nvSpPr>
        <p:spPr>
          <a:xfrm>
            <a:off x="9144000" y="1508760"/>
            <a:ext cx="2514600" cy="324612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7"/>
          <p:cNvSpPr/>
          <p:nvPr/>
        </p:nvSpPr>
        <p:spPr>
          <a:xfrm>
            <a:off x="9646920" y="1828800"/>
            <a:ext cx="1508760" cy="457200"/>
          </a:xfrm>
          <a:prstGeom prst="roundRect">
            <a:avLst>
              <a:gd fmla="val 16667" name="adj"/>
            </a:avLst>
          </a:prstGeom>
          <a:solidFill>
            <a:srgbClr val="EBF0E0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7"/>
          <p:cNvSpPr txBox="1"/>
          <p:nvPr/>
        </p:nvSpPr>
        <p:spPr>
          <a:xfrm>
            <a:off x="9683496" y="1847088"/>
            <a:ext cx="1435607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留存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7"/>
          <p:cNvSpPr txBox="1"/>
          <p:nvPr/>
        </p:nvSpPr>
        <p:spPr>
          <a:xfrm>
            <a:off x="9418320" y="2697480"/>
            <a:ext cx="1965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 天進階挑戰建立回訪理由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7"/>
          <p:cNvSpPr/>
          <p:nvPr/>
        </p:nvSpPr>
        <p:spPr>
          <a:xfrm>
            <a:off x="960120" y="5257800"/>
            <a:ext cx="10287000" cy="658368"/>
          </a:xfrm>
          <a:prstGeom prst="roundRect">
            <a:avLst>
              <a:gd fmla="val 16667" name="adj"/>
            </a:avLst>
          </a:prstGeom>
          <a:solidFill>
            <a:srgbClr val="5261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7"/>
          <p:cNvSpPr txBox="1"/>
          <p:nvPr/>
        </p:nvSpPr>
        <p:spPr>
          <a:xfrm>
            <a:off x="1143000" y="5321808"/>
            <a:ext cx="99212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讓使用者不是「被要求填問卷」，而是「因為想完成挑戰而開始使用平台」。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7"/>
          <p:cNvSpPr txBox="1"/>
          <p:nvPr/>
        </p:nvSpPr>
        <p:spPr>
          <a:xfrm>
            <a:off x="11064240" y="6537960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fae0d61fe3_0_2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6E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ae0d61fe3_0_2"/>
          <p:cNvSpPr/>
          <p:nvPr/>
        </p:nvSpPr>
        <p:spPr>
          <a:xfrm>
            <a:off x="1407103" y="1508750"/>
            <a:ext cx="9276000" cy="3246000"/>
          </a:xfrm>
          <a:prstGeom prst="roundRect">
            <a:avLst>
              <a:gd fmla="val 16667" name="adj"/>
            </a:avLst>
          </a:prstGeom>
          <a:solidFill>
            <a:srgbClr val="FFFFFC"/>
          </a:solidFill>
          <a:ln cap="flat" cmpd="sng" w="9525">
            <a:solidFill>
              <a:srgbClr val="DBD7C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g3fae0d61fe3_0_2"/>
          <p:cNvSpPr txBox="1"/>
          <p:nvPr/>
        </p:nvSpPr>
        <p:spPr>
          <a:xfrm>
            <a:off x="5255800" y="2476925"/>
            <a:ext cx="1578600" cy="115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800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謝謝大家</a:t>
            </a:r>
            <a:endParaRPr b="1" sz="2800">
              <a:solidFill>
                <a:srgbClr val="26262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US" sz="2800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請多指教</a:t>
            </a:r>
            <a:endParaRPr b="1" sz="2800">
              <a:solidFill>
                <a:srgbClr val="26262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5" name="Google Shape;555;g3fae0d61fe3_0_2"/>
          <p:cNvSpPr/>
          <p:nvPr/>
        </p:nvSpPr>
        <p:spPr>
          <a:xfrm>
            <a:off x="502920" y="6510528"/>
            <a:ext cx="11201400" cy="9000"/>
          </a:xfrm>
          <a:prstGeom prst="rect">
            <a:avLst/>
          </a:prstGeom>
          <a:solidFill>
            <a:srgbClr val="DBD7C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g3fae0d61fe3_0_2"/>
          <p:cNvSpPr txBox="1"/>
          <p:nvPr/>
        </p:nvSpPr>
        <p:spPr>
          <a:xfrm>
            <a:off x="11064240" y="6537960"/>
            <a:ext cx="502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r>
              <a:rPr b="1" lang="en-US" sz="1600">
                <a:solidFill>
                  <a:srgbClr val="5261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g3fae0d61fe3_0_2"/>
          <p:cNvSpPr txBox="1"/>
          <p:nvPr/>
        </p:nvSpPr>
        <p:spPr>
          <a:xfrm>
            <a:off x="291280" y="5551350"/>
            <a:ext cx="2934300" cy="4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2400" u="none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外食・健康吃 </a:t>
            </a:r>
            <a:r>
              <a:rPr b="1" i="0" lang="en-US" sz="2400" u="sng" cap="none" strike="noStrike">
                <a:solidFill>
                  <a:srgbClr val="262621"/>
                </a:solidFill>
                <a:latin typeface="Microsoft JhengHei"/>
                <a:ea typeface="Microsoft JhengHei"/>
                <a:cs typeface="Microsoft JhengHei"/>
                <a:sym typeface="Microsoft JhengHe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8" name="Google Shape;558;g3fae0d61fe3_0_2" title="2608270936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4350" y="1919775"/>
            <a:ext cx="2265700" cy="22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user</dc:creator>
</cp:coreProperties>
</file>